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DB94D2-1B68-A24A-3A5A-892B34712E67}" v="280" dt="2026-06-30T10:38:04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 algn="l"/>
            <a:r>
              <a:rPr sz="6000" b="1">
                <a:solidFill>
                  <a:srgbClr val="1A73E8"/>
                </a:solidFill>
                <a:latin typeface="Montserrat"/>
              </a:rPr>
              <a:t>BigQuery Housekeeping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 algn="l"/>
            <a:r>
              <a:rPr sz="2800" b="0">
                <a:solidFill>
                  <a:srgbClr val="5A6675"/>
                </a:solidFill>
                <a:latin typeface="Open Sans"/>
              </a:rPr>
              <a:t>Data Estate Decommissioning &amp; Scream Test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 algn="l"/>
            <a:r>
              <a:rPr sz="1400" b="1">
                <a:solidFill>
                  <a:srgbClr val="1A73E8"/>
                </a:solidFill>
                <a:latin typeface="Montserrat"/>
              </a:rPr>
              <a:t>EXECUTIVE REVIEW  ·  CLOUD FINOPS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A36830-B42B-1C30-6D83-24B81AE01F1D}"/>
              </a:ext>
            </a:extLst>
          </p:cNvPr>
          <p:cNvSpPr txBox="1"/>
          <p:nvPr/>
        </p:nvSpPr>
        <p:spPr>
          <a:xfrm>
            <a:off x="180109" y="214745"/>
            <a:ext cx="116724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rgbClr val="16202E"/>
                </a:solidFill>
                <a:latin typeface="Montserrat"/>
              </a:rPr>
              <a:t>Process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3372D6-D999-519C-2682-4DEBC3D0FBEB}"/>
              </a:ext>
            </a:extLst>
          </p:cNvPr>
          <p:cNvSpPr txBox="1"/>
          <p:nvPr/>
        </p:nvSpPr>
        <p:spPr>
          <a:xfrm>
            <a:off x="457200" y="1008611"/>
            <a:ext cx="4484369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>
                <a:solidFill>
                  <a:srgbClr val="1A73E8"/>
                </a:solidFill>
                <a:latin typeface="Calibri"/>
                <a:ea typeface="Calibri"/>
                <a:cs typeface="Calibri"/>
              </a:rPr>
              <a:t>Phase A: Identification (Audit)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D2C602-7EDA-678C-CA77-D70AA2D8681E}"/>
              </a:ext>
            </a:extLst>
          </p:cNvPr>
          <p:cNvSpPr txBox="1"/>
          <p:nvPr/>
        </p:nvSpPr>
        <p:spPr>
          <a:xfrm>
            <a:off x="457200" y="1464426"/>
            <a:ext cx="11392649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>
                <a:solidFill>
                  <a:srgbClr val="16202E"/>
                </a:solidFill>
                <a:ea typeface="+mn-lt"/>
                <a:cs typeface="+mn-lt"/>
              </a:rPr>
              <a:t>Targets are identified in the Audit Excel file under the BQ-added-Data sheet.</a:t>
            </a:r>
            <a:endParaRPr lang="en-US" sz="12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>
                <a:solidFill>
                  <a:srgbClr val="16202E"/>
                </a:solidFill>
                <a:ea typeface="+mn-lt"/>
                <a:cs typeface="+mn-lt"/>
              </a:rPr>
              <a:t>Tranche Selection:</a:t>
            </a:r>
            <a:r>
              <a:rPr lang="en-US" sz="1200">
                <a:solidFill>
                  <a:srgbClr val="16202E"/>
                </a:solidFill>
                <a:ea typeface="+mn-lt"/>
                <a:cs typeface="+mn-lt"/>
              </a:rPr>
              <a:t> Targets are grouped by Tranche (e.g., Tranche 1, Tranche 1.1, etc.).</a:t>
            </a:r>
            <a:endParaRPr lang="en-US" sz="12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>
                <a:solidFill>
                  <a:srgbClr val="16202E"/>
                </a:solidFill>
                <a:ea typeface="+mn-lt"/>
                <a:cs typeface="+mn-lt"/>
              </a:rPr>
              <a:t>Confirmation Gate:</a:t>
            </a:r>
            <a:r>
              <a:rPr lang="en-US" sz="1200" dirty="0">
                <a:solidFill>
                  <a:srgbClr val="16202E"/>
                </a:solidFill>
                <a:ea typeface="+mn-lt"/>
                <a:cs typeface="+mn-lt"/>
              </a:rPr>
              <a:t> </a:t>
            </a:r>
            <a:r>
              <a:rPr lang="en-US" sz="1200" b="1">
                <a:solidFill>
                  <a:srgbClr val="16202E"/>
                </a:solidFill>
                <a:ea typeface="+mn-lt"/>
                <a:cs typeface="+mn-lt"/>
              </a:rPr>
              <a:t>Only</a:t>
            </a:r>
            <a:r>
              <a:rPr lang="en-US" sz="1200">
                <a:solidFill>
                  <a:srgbClr val="16202E"/>
                </a:solidFill>
                <a:ea typeface="+mn-lt"/>
                <a:cs typeface="+mn-lt"/>
              </a:rPr>
              <a:t> rows marked as </a:t>
            </a:r>
            <a:r>
              <a:rPr lang="en-US" sz="1200" b="1">
                <a:solidFill>
                  <a:srgbClr val="16202E"/>
                </a:solidFill>
                <a:ea typeface="+mn-lt"/>
                <a:cs typeface="+mn-lt"/>
              </a:rPr>
              <a:t>CONFIRMED</a:t>
            </a:r>
            <a:r>
              <a:rPr lang="en-US" sz="1200">
                <a:solidFill>
                  <a:srgbClr val="16202E"/>
                </a:solidFill>
                <a:ea typeface="+mn-lt"/>
                <a:cs typeface="+mn-lt"/>
              </a:rPr>
              <a:t> (e.g., CONFIRMED: NO MODS &gt; 1YR) in the Defensible Deletion Status column (Column P) will be processed. All other statuses (e.g., REVIEW) are ignored.</a:t>
            </a:r>
            <a:endParaRPr lang="en-US" sz="1200" dirty="0">
              <a:solidFill>
                <a:srgbClr val="16202E"/>
              </a:solidFill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6768A-A5B0-5B90-7B2D-A59E4A2952CA}"/>
              </a:ext>
            </a:extLst>
          </p:cNvPr>
          <p:cNvSpPr txBox="1"/>
          <p:nvPr/>
        </p:nvSpPr>
        <p:spPr>
          <a:xfrm>
            <a:off x="457199" y="2297083"/>
            <a:ext cx="4631845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b="1">
                <a:solidFill>
                  <a:srgbClr val="1A73E8"/>
                </a:solidFill>
                <a:latin typeface="Calibri"/>
                <a:ea typeface="Calibri"/>
                <a:cs typeface="Calibri"/>
              </a:rPr>
              <a:t>2. </a:t>
            </a:r>
            <a:r>
              <a:rPr lang="en-US" sz="2400" b="1">
                <a:solidFill>
                  <a:srgbClr val="1A73E8"/>
                </a:solidFill>
                <a:ea typeface="+mn-lt"/>
                <a:cs typeface="+mn-lt"/>
              </a:rPr>
              <a:t>Phase B: Initiation (Scream Test)</a:t>
            </a:r>
            <a:endParaRPr lang="en-US" sz="2400" b="1">
              <a:solidFill>
                <a:srgbClr val="1A73E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13F56C-8D02-0AE9-035C-B18A9EEB8950}"/>
              </a:ext>
            </a:extLst>
          </p:cNvPr>
          <p:cNvSpPr txBox="1"/>
          <p:nvPr/>
        </p:nvSpPr>
        <p:spPr>
          <a:xfrm>
            <a:off x="457199" y="2752898"/>
            <a:ext cx="11392649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>
                <a:solidFill>
                  <a:srgbClr val="16202E"/>
                </a:solidFill>
                <a:ea typeface="+mn-lt"/>
                <a:cs typeface="+mn-lt"/>
              </a:rPr>
              <a:t>The</a:t>
            </a:r>
            <a:r>
              <a:rPr lang="en-US" sz="1200" dirty="0">
                <a:solidFill>
                  <a:srgbClr val="16202E"/>
                </a:solidFill>
                <a:ea typeface="+mn-lt"/>
                <a:cs typeface="+mn-lt"/>
              </a:rPr>
              <a:t> script performs the following for each target:</a:t>
            </a:r>
            <a:endParaRPr lang="en-US" sz="12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>
                <a:solidFill>
                  <a:srgbClr val="16202E"/>
                </a:solidFill>
                <a:ea typeface="+mn-lt"/>
                <a:cs typeface="+mn-lt"/>
              </a:rPr>
              <a:t>Backup:</a:t>
            </a:r>
            <a:r>
              <a:rPr lang="en-US" sz="1200">
                <a:solidFill>
                  <a:srgbClr val="16202E"/>
                </a:solidFill>
                <a:ea typeface="+mn-lt"/>
                <a:cs typeface="+mn-lt"/>
              </a:rPr>
              <a:t> Captures the current access policy and uploads it to gs://bq-admin-</a:t>
            </a:r>
            <a:r>
              <a:rPr lang="en-US" sz="1200" dirty="0">
                <a:solidFill>
                  <a:srgbClr val="16202E"/>
                </a:solidFill>
                <a:ea typeface="+mn-lt"/>
                <a:cs typeface="+mn-lt"/>
              </a:rPr>
              <a:t>backup/backups/[project]_[dataset]_backup.json.</a:t>
            </a:r>
            <a:endParaRPr lang="en-US" sz="12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rgbClr val="16202E"/>
                </a:solidFill>
                <a:ea typeface="+mn-lt"/>
                <a:cs typeface="+mn-lt"/>
              </a:rPr>
              <a:t>Labelling:</a:t>
            </a:r>
            <a:r>
              <a:rPr lang="en-US" sz="1200" dirty="0">
                <a:solidFill>
                  <a:srgbClr val="16202E"/>
                </a:solidFill>
                <a:ea typeface="+mn-lt"/>
                <a:cs typeface="+mn-lt"/>
              </a:rPr>
              <a:t> Adds a label </a:t>
            </a:r>
            <a:r>
              <a:rPr lang="en-US" sz="1200" dirty="0" err="1">
                <a:solidFill>
                  <a:srgbClr val="16202E"/>
                </a:solidFill>
                <a:ea typeface="+mn-lt"/>
                <a:cs typeface="+mn-lt"/>
              </a:rPr>
              <a:t>cleanup-status:scream-test</a:t>
            </a:r>
            <a:r>
              <a:rPr lang="en-US" sz="1200" dirty="0">
                <a:solidFill>
                  <a:srgbClr val="16202E"/>
                </a:solidFill>
                <a:ea typeface="+mn-lt"/>
                <a:cs typeface="+mn-lt"/>
              </a:rPr>
              <a:t> to the dataset for in-console visibility.</a:t>
            </a:r>
            <a:endParaRPr lang="en-US" sz="12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>
                <a:solidFill>
                  <a:srgbClr val="16202E"/>
                </a:solidFill>
                <a:ea typeface="+mn-lt"/>
                <a:cs typeface="+mn-lt"/>
              </a:rPr>
              <a:t>Restriction:</a:t>
            </a:r>
            <a:r>
              <a:rPr lang="en-US" sz="1200">
                <a:solidFill>
                  <a:srgbClr val="16202E"/>
                </a:solidFill>
                <a:ea typeface="+mn-lt"/>
                <a:cs typeface="+mn-lt"/>
              </a:rPr>
              <a:t> Updates the dataset access to remove all users/groups EXCEPT:</a:t>
            </a:r>
            <a:endParaRPr lang="en-US" sz="12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200" dirty="0" err="1">
                <a:solidFill>
                  <a:srgbClr val="16202E"/>
                </a:solidFill>
                <a:ea typeface="+mn-lt"/>
                <a:cs typeface="+mn-lt"/>
              </a:rPr>
              <a:t>Organisation</a:t>
            </a:r>
            <a:r>
              <a:rPr lang="en-US" sz="1200" dirty="0">
                <a:solidFill>
                  <a:srgbClr val="16202E"/>
                </a:solidFill>
                <a:ea typeface="+mn-lt"/>
                <a:cs typeface="+mn-lt"/>
              </a:rPr>
              <a:t> Admins (retained via Org-level IAM).</a:t>
            </a:r>
            <a:endParaRPr lang="en-US" sz="1200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200">
                <a:solidFill>
                  <a:srgbClr val="16202E"/>
                </a:solidFill>
                <a:ea typeface="+mn-lt"/>
                <a:cs typeface="+mn-lt"/>
              </a:rPr>
              <a:t>OWNER role holders (preserved to maintain resource ownership integrity).</a:t>
            </a:r>
            <a:endParaRPr lang="en-US" sz="12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 dirty="0">
                <a:solidFill>
                  <a:srgbClr val="16202E"/>
                </a:solidFill>
                <a:ea typeface="+mn-lt"/>
                <a:cs typeface="+mn-lt"/>
              </a:rPr>
              <a:t>Logging:</a:t>
            </a:r>
            <a:r>
              <a:rPr lang="en-US" sz="1200" dirty="0">
                <a:solidFill>
                  <a:srgbClr val="16202E"/>
                </a:solidFill>
                <a:ea typeface="+mn-lt"/>
                <a:cs typeface="+mn-lt"/>
              </a:rPr>
              <a:t> Records the initiation timestamp and backup location in </a:t>
            </a:r>
            <a:r>
              <a:rPr lang="en-US" sz="1200" dirty="0" err="1">
                <a:solidFill>
                  <a:srgbClr val="16202E"/>
                </a:solidFill>
                <a:ea typeface="+mn-lt"/>
                <a:cs typeface="+mn-lt"/>
              </a:rPr>
              <a:t>state.json</a:t>
            </a:r>
            <a:r>
              <a:rPr lang="en-US" sz="1200" dirty="0">
                <a:solidFill>
                  <a:srgbClr val="16202E"/>
                </a:solidFill>
                <a:ea typeface="+mn-lt"/>
                <a:cs typeface="+mn-lt"/>
              </a:rPr>
              <a:t>.</a:t>
            </a:r>
            <a:endParaRPr lang="en-US" sz="1200">
              <a:ea typeface="+mn-lt"/>
              <a:cs typeface="+mn-lt"/>
            </a:endParaRPr>
          </a:p>
          <a:p>
            <a:endParaRPr lang="en-US" sz="1200" dirty="0">
              <a:solidFill>
                <a:srgbClr val="16202E"/>
              </a:solidFill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9C4F8-BA2B-ACA0-EAA1-994C7141966A}"/>
              </a:ext>
            </a:extLst>
          </p:cNvPr>
          <p:cNvSpPr txBox="1"/>
          <p:nvPr/>
        </p:nvSpPr>
        <p:spPr>
          <a:xfrm>
            <a:off x="457198" y="4195155"/>
            <a:ext cx="8302337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1A73E8"/>
                </a:solidFill>
                <a:latin typeface="Calibri"/>
                <a:ea typeface="Calibri"/>
                <a:cs typeface="Calibri"/>
              </a:rPr>
              <a:t>3. </a:t>
            </a:r>
            <a:r>
              <a:rPr lang="en-US" sz="2400" b="1" dirty="0">
                <a:solidFill>
                  <a:srgbClr val="1A73E8"/>
                </a:solidFill>
                <a:ea typeface="+mn-lt"/>
                <a:cs typeface="+mn-lt"/>
              </a:rPr>
              <a:t>Phase C: Monitoring (7-14 Days longer </a:t>
            </a:r>
            <a:r>
              <a:rPr lang="en-US" sz="2400" b="1">
                <a:solidFill>
                  <a:srgbClr val="1A73E8"/>
                </a:solidFill>
                <a:ea typeface="+mn-lt"/>
                <a:cs typeface="+mn-lt"/>
              </a:rPr>
              <a:t>monitoring can be set)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5B2E40-75C8-120E-62CE-9E864E5D8068}"/>
              </a:ext>
            </a:extLst>
          </p:cNvPr>
          <p:cNvSpPr txBox="1"/>
          <p:nvPr/>
        </p:nvSpPr>
        <p:spPr>
          <a:xfrm>
            <a:off x="457198" y="4574770"/>
            <a:ext cx="1139264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dirty="0">
                <a:solidFill>
                  <a:srgbClr val="16202E"/>
                </a:solidFill>
                <a:ea typeface="+mn-lt"/>
                <a:cs typeface="+mn-lt"/>
              </a:rPr>
              <a:t>The datasets remain in this restricted state for a minimum of 7 days (matching </a:t>
            </a:r>
            <a:r>
              <a:rPr lang="en-US" sz="1200" dirty="0" err="1">
                <a:solidFill>
                  <a:srgbClr val="16202E"/>
                </a:solidFill>
                <a:ea typeface="+mn-lt"/>
                <a:cs typeface="+mn-lt"/>
              </a:rPr>
              <a:t>BigQuery's</a:t>
            </a:r>
            <a:r>
              <a:rPr lang="en-US" sz="1200" dirty="0">
                <a:solidFill>
                  <a:srgbClr val="16202E"/>
                </a:solidFill>
                <a:ea typeface="+mn-lt"/>
                <a:cs typeface="+mn-lt"/>
              </a:rPr>
              <a:t> Time Travel window).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14092-542D-DB61-CE19-2A2F2DAD031F}"/>
              </a:ext>
            </a:extLst>
          </p:cNvPr>
          <p:cNvSpPr txBox="1"/>
          <p:nvPr/>
        </p:nvSpPr>
        <p:spPr>
          <a:xfrm>
            <a:off x="457197" y="4908663"/>
            <a:ext cx="5142177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2400" b="1">
                <a:solidFill>
                  <a:srgbClr val="1A73E8"/>
                </a:solidFill>
                <a:ea typeface="+mn-lt"/>
                <a:cs typeface="+mn-lt"/>
              </a:rPr>
              <a:t>4. Phase D: Final Deletion (Automated)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9122D8-C13D-10ED-D642-2F49E917E654}"/>
              </a:ext>
            </a:extLst>
          </p:cNvPr>
          <p:cNvSpPr txBox="1"/>
          <p:nvPr/>
        </p:nvSpPr>
        <p:spPr>
          <a:xfrm>
            <a:off x="457197" y="5288278"/>
            <a:ext cx="11392649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>
                <a:solidFill>
                  <a:srgbClr val="16202E"/>
                </a:solidFill>
                <a:ea typeface="+mn-lt"/>
                <a:cs typeface="+mn-lt"/>
              </a:rPr>
              <a:t>After the monitoring period (default 7 days), use the --phase-d flag to permanently delete the datasets.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99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How to recover (Emergency Protocol)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1. Automated Restore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Use `bq_restore_access.py` to pull metadata from `gs://bq-admin-backup/` and reapply in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2. Metadata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Full access policies are versioned to GCS *before* any modification.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3. Org-Level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Org Admins retain management persistence via Org-level IAM; zero lockout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Tranche Analysis: Stale &amp; Abandoned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832329"/>
              </p:ext>
            </p:extLst>
          </p:nvPr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Tranche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Cost/Mo ($)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 (GB)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Datasets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Projects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T1: Abandoned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549.90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27,494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T2: Abandoned 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8,913.59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445,681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T3: Small Abandoned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227.33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11,372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T4: Stale (180d)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103.68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5,182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T5: Active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581.07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29,053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b="1"/>
                        <a:t>Subtotal (Cleanup)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b="1"/>
                        <a:t>10,375.57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b="1"/>
                        <a:t>518,782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b="1"/>
                        <a:t>1,309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b="1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Active (Prod)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32,906.12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1,645,314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Access Profiles &amp; Cleanup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372898" cy="23596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/>
          </a:p>
          <a:p>
            <a:pPr>
              <a:defRPr sz="2400" b="1"/>
            </a:pPr>
            <a:r>
              <a:t>Key Account Profiles Identified:</a:t>
            </a:r>
          </a:p>
          <a:p>
            <a:pPr>
              <a:spcBef>
                <a:spcPts val="1000"/>
              </a:spcBef>
              <a:defRPr sz="1800"/>
            </a:pPr>
            <a:r>
              <a:rPr dirty="0"/>
              <a:t>· Service Accounts: </a:t>
            </a:r>
            <a:r>
              <a:rPr dirty="0" err="1"/>
              <a:t>finops</a:t>
            </a:r>
            <a:r>
              <a:rPr dirty="0"/>
              <a:t>-scheduler, quota-collector</a:t>
            </a:r>
            <a:endParaRPr lang="en-GB" dirty="0">
              <a:ea typeface="Calibri"/>
              <a:cs typeface="Calibri"/>
            </a:endParaRPr>
          </a:p>
          <a:p>
            <a:pPr>
              <a:spcBef>
                <a:spcPts val="1000"/>
              </a:spcBef>
              <a:defRPr sz="1800"/>
            </a:pPr>
            <a:r>
              <a:rPr dirty="0"/>
              <a:t>· WIF Principals: GitHub Actions (</a:t>
            </a:r>
            <a:r>
              <a:rPr dirty="0" err="1"/>
              <a:t>thg</a:t>
            </a:r>
            <a:r>
              <a:rPr dirty="0"/>
              <a:t>-</a:t>
            </a:r>
            <a:r>
              <a:rPr dirty="0" err="1"/>
              <a:t>finops</a:t>
            </a:r>
            <a:r>
              <a:rPr dirty="0"/>
              <a:t>-prod)</a:t>
            </a:r>
            <a:endParaRPr dirty="0">
              <a:ea typeface="Calibri"/>
              <a:cs typeface="Calibri"/>
            </a:endParaRPr>
          </a:p>
          <a:p>
            <a:pPr>
              <a:spcBef>
                <a:spcPts val="1000"/>
              </a:spcBef>
              <a:defRPr sz="1800"/>
            </a:pPr>
            <a:r>
              <a:t>· User Groups: Data &amp; AI (Looker), FinOps Team, Product Owners</a:t>
            </a:r>
          </a:p>
          <a:p>
            <a:pPr>
              <a:spcBef>
                <a:spcPts val="1000"/>
              </a:spcBef>
              <a:defRPr sz="1800"/>
            </a:pPr>
            <a:r>
              <a:t>· Orphaned: 1,300+ datasets have ZERO write activity in 180+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9618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 b="1">
                <a:solidFill>
                  <a:srgbClr val="1A73E8"/>
                </a:solidFill>
              </a:defRPr>
            </a:pPr>
            <a:r>
              <a:t>Recent Activity (Last 24h):</a:t>
            </a:r>
          </a:p>
          <a:p>
            <a:pPr>
              <a:spcBef>
                <a:spcPts val="1000"/>
              </a:spcBef>
              <a:defRPr sz="1800"/>
            </a:pPr>
            <a:r>
              <a:t>· thg-data-personify: Personify (Active)</a:t>
            </a:r>
          </a:p>
          <a:p>
            <a:pPr>
              <a:spcBef>
                <a:spcPts val="1000"/>
              </a:spcBef>
              <a:defRPr sz="1800"/>
            </a:pPr>
            <a:r>
              <a:t>· thg-ingenuity: analytics_376116958 (Active)</a:t>
            </a:r>
          </a:p>
          <a:p>
            <a:pPr>
              <a:spcBef>
                <a:spcPts val="1000"/>
              </a:spcBef>
              <a:defRPr sz="1800"/>
            </a:pPr>
            <a:r>
              <a:t>· thg-ml-dev: chatbot_conversations (Active)</a:t>
            </a:r>
          </a:p>
          <a:p>
            <a:pPr>
              <a:spcBef>
                <a:spcPts val="1000"/>
              </a:spcBef>
              <a:defRPr sz="1800"/>
            </a:pPr>
            <a:r>
              <a:t>· thg-cx-data: hermes_events (Active)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Execution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599184" cy="273921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l"/>
            <a:endParaRPr/>
          </a:p>
          <a:p>
            <a:pPr algn="l">
              <a:defRPr b="1"/>
            </a:pPr>
            <a:r>
              <a:rPr sz="2800" b="0">
                <a:solidFill>
                  <a:srgbClr val="16202E"/>
                </a:solidFill>
                <a:latin typeface="Open Sans"/>
              </a:rPr>
              <a:t>Control File: 20260624_Data_Estate_Cleanup_Audit.xlsx</a:t>
            </a:r>
          </a:p>
          <a:p>
            <a:endParaRPr lang="en-GB" sz="2800" dirty="0">
              <a:solidFill>
                <a:srgbClr val="16202E"/>
              </a:solidFill>
              <a:latin typeface="Open Sans"/>
            </a:endParaRPr>
          </a:p>
          <a:p>
            <a:pPr algn="l"/>
            <a:r>
              <a:rPr sz="2800" b="0">
                <a:solidFill>
                  <a:srgbClr val="16202E"/>
                </a:solidFill>
                <a:latin typeface="Open Sans"/>
              </a:rPr>
              <a:t>Targeting 1,300+ datasets with $10k+ monthly waste potential.</a:t>
            </a:r>
          </a:p>
          <a:p>
            <a:br>
              <a:rPr dirty="0"/>
            </a:br>
            <a:r>
              <a:rPr sz="2800" b="0">
                <a:solidFill>
                  <a:srgbClr val="16202E"/>
                </a:solidFill>
                <a:latin typeface="Open Sans"/>
              </a:rPr>
              <a:t>Code &amp; Full Audit Control Repository:</a:t>
            </a:r>
          </a:p>
          <a:p>
            <a:pPr algn="l"/>
            <a:r>
              <a:rPr sz="2400" b="1" dirty="0">
                <a:solidFill>
                  <a:srgbClr val="1A73E8"/>
                </a:solidFill>
                <a:latin typeface="Open Sans"/>
              </a:rPr>
              <a:t>https://github.com/alandoddthg/bq-housekeeping</a:t>
            </a:r>
            <a:endParaRPr sz="2400" b="1" dirty="0">
              <a:solidFill>
                <a:srgbClr val="1A73E8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64</cp:revision>
  <dcterms:created xsi:type="dcterms:W3CDTF">2013-01-27T09:14:16Z</dcterms:created>
  <dcterms:modified xsi:type="dcterms:W3CDTF">2026-06-30T10:38:31Z</dcterms:modified>
  <cp:category/>
</cp:coreProperties>
</file>