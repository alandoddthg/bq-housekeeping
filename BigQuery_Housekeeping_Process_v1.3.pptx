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Days Since Last Activity</c:v>
                </c:pt>
              </c:strCache>
            </c:strRef>
          </c:tx>
          <c:spPr>
            <a:solidFill>
              <a:srgbClr val="C5221F"/>
            </a:solidFill>
          </c:spPr>
          <c:cat>
            <c:strRef>
              <c:f>Sheet1!$A$2:$A$16</c:f>
              <c:strCache>
                <c:ptCount val="15"/>
                <c:pt idx="0">
                  <c:v>test_SA360</c:v>
                </c:pt>
                <c:pt idx="1">
                  <c:v>featurestore_poc</c:v>
                </c:pt>
                <c:pt idx="2">
                  <c:v>influ_forecast__temp</c:v>
                </c:pt>
                <c:pt idx="3">
                  <c:v>chunchao_test</c:v>
                </c:pt>
                <c:pt idx="4">
                  <c:v>test_search</c:v>
                </c:pt>
                <c:pt idx="5">
                  <c:v>test_customer_recently_viewed</c:v>
                </c:pt>
                <c:pt idx="6">
                  <c:v>TestDataset2024</c:v>
                </c:pt>
                <c:pt idx="7">
                  <c:v>archived_ecrm_user_clustering_test</c:v>
                </c:pt>
                <c:pt idx="8">
                  <c:v>ditto_memory_test</c:v>
                </c:pt>
                <c:pt idx="9">
                  <c:v>darrenj_test_productvisit_events</c:v>
                </c:pt>
                <c:pt idx="10">
                  <c:v>cos_googleadwords_test</c:v>
                </c:pt>
                <c:pt idx="11">
                  <c:v>tmp_staging</c:v>
                </c:pt>
                <c:pt idx="12">
                  <c:v>Superset_Temp</c:v>
                </c:pt>
                <c:pt idx="13">
                  <c:v>archived_temp_reviews</c:v>
                </c:pt>
                <c:pt idx="14">
                  <c:v>beta_coggles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2041.0</c:v>
                </c:pt>
                <c:pt idx="1">
                  <c:v>781.0</c:v>
                </c:pt>
                <c:pt idx="2">
                  <c:v>673.0</c:v>
                </c:pt>
                <c:pt idx="3">
                  <c:v>655.0</c:v>
                </c:pt>
                <c:pt idx="4">
                  <c:v>152.0</c:v>
                </c:pt>
                <c:pt idx="5">
                  <c:v>56.0</c:v>
                </c:pt>
                <c:pt idx="6">
                  <c:v>56.0</c:v>
                </c:pt>
                <c:pt idx="7">
                  <c:v>56.0</c:v>
                </c:pt>
                <c:pt idx="8">
                  <c:v>56.0</c:v>
                </c:pt>
                <c:pt idx="9">
                  <c:v>56.0</c:v>
                </c:pt>
                <c:pt idx="10">
                  <c:v>56.0</c:v>
                </c:pt>
                <c:pt idx="11">
                  <c:v>56.0</c:v>
                </c:pt>
                <c:pt idx="12">
                  <c:v>56.0</c:v>
                </c:pt>
                <c:pt idx="13">
                  <c:v>56.0</c:v>
                </c:pt>
                <c:pt idx="14">
                  <c:v>56.0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6000" b="1">
                <a:solidFill>
                  <a:srgbClr val="1A73E8"/>
                </a:solidFill>
                <a:latin typeface="Montserrat"/>
              </a:rPr>
              <a:t>BigQuery Housekeeping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2800" b="0">
                <a:solidFill>
                  <a:srgbClr val="5A6675"/>
                </a:solidFill>
                <a:latin typeface="Open Sans"/>
              </a:rPr>
              <a:t>Data Estate Decommissioning &amp; Scream Test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1400" b="1">
                <a:solidFill>
                  <a:srgbClr val="1A73E8"/>
                </a:solidFill>
                <a:latin typeface="Montserrat"/>
              </a:rPr>
              <a:t>EXECUTIVE REVIEW  ·  CLOUD FINOPS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4000" b="1">
                <a:solidFill>
                  <a:srgbClr val="16202E"/>
                </a:solidFill>
                <a:latin typeface="Montserrat"/>
              </a:rPr>
              <a:t>How to recover (Emergency Protocol)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2400" b="1">
                <a:solidFill>
                  <a:srgbClr val="1A73E8"/>
                </a:solidFill>
                <a:latin typeface="Montserrat"/>
              </a:rPr>
              <a:t>1. Automated Restore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1800" b="0">
                <a:solidFill>
                  <a:srgbClr val="16202E"/>
                </a:solidFill>
                <a:latin typeface="Open Sans"/>
              </a:rPr>
              <a:t>Use `bq_restore_access.py` to pull metadata from `gs://bq-admin-backup/` and reapply in seconds.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2400" b="1">
                <a:solidFill>
                  <a:srgbClr val="1A73E8"/>
                </a:solidFill>
                <a:latin typeface="Montserrat"/>
              </a:rPr>
              <a:t>2. Metadata Integrity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09728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1800" b="0">
                <a:solidFill>
                  <a:srgbClr val="16202E"/>
                </a:solidFill>
                <a:latin typeface="Open Sans"/>
              </a:rPr>
              <a:t>Full access policies are versioned to GCS *before* any modification.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2400" b="1">
                <a:solidFill>
                  <a:srgbClr val="1A73E8"/>
                </a:solidFill>
                <a:latin typeface="Montserrat"/>
              </a:rPr>
              <a:t>3. Org-Level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09728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1800" b="0">
                <a:solidFill>
                  <a:srgbClr val="16202E"/>
                </a:solidFill>
                <a:latin typeface="Open Sans"/>
              </a:rPr>
              <a:t>Org Admins retain management persistence via Org-level IAM; zero lockout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4000" b="1">
                <a:solidFill>
                  <a:srgbClr val="16202E"/>
                </a:solidFill>
                <a:latin typeface="Montserrat"/>
              </a:rPr>
              <a:t>Tranche Analysis: Stale &amp; Abandoned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715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Tranche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Cost/Mo ($)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 (GB)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Datasets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Projects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T1: Abandoned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549.90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27,494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6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T2: Abandoned Prod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8,913.59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445,681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T3: Small Abandoned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227.33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11,372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1,010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T4: Stale (180d)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103.68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5,182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9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T5: Active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581.07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29,053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12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Subtotal (Cleanup)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10,375.57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518,782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1,309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53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Active (Prod)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32,906.12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1,645,314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788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4000" b="1">
                <a:solidFill>
                  <a:srgbClr val="16202E"/>
                </a:solidFill>
                <a:latin typeface="Montserrat"/>
              </a:rPr>
              <a:t>Access Profiles &amp; Cleanup Risk: Tranche 1 Candidates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1600" b="1">
                <a:solidFill>
                  <a:srgbClr val="5A6675"/>
                </a:solidFill>
                <a:latin typeface="Open Sans"/>
              </a:rPr>
              <a:t>30 confirmed candidates  ·  27,107 GB  ·  $542.15/mo  ·  zero reads/writes in 12+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109728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1800" b="1">
                <a:solidFill>
                  <a:srgbClr val="16202E"/>
                </a:solidFill>
                <a:latin typeface="Montserrat"/>
              </a:rPr>
              <a:t>Top 15 by Days Since Last Activity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2057400"/>
          <a:ext cx="10972800" cy="2148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43400"/>
            <a:ext cx="109728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1800" b="1">
                <a:solidFill>
                  <a:srgbClr val="16202E"/>
                </a:solidFill>
                <a:latin typeface="Montserrat"/>
              </a:rPr>
              <a:t>Biggest Offenders by Monthly Cost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70916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261257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Days Inactive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Size (GB)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Monthly Cost ($)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the-hut-group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abtest_results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21,960.20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439.20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vibrant-map-107910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Sessions_Level_1_Testing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2,144.30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42.89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agile-bonbon-662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ecrmEvents_Test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1,625.43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32.51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thg-ml-dev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test_search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661.79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13.24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the-hut-group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ditto_load_test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379.49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7.59</a:t>
                      </a:r>
                    </a:p>
                  </a:txBody>
                  <a:tcPr/>
                </a:tc>
              </a:tr>
              <a:tr h="26125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agile-bonbon-662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tmp_staging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133.31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2.67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4000" b="1">
                <a:solidFill>
                  <a:srgbClr val="16202E"/>
                </a:solidFill>
                <a:latin typeface="Montserrat"/>
              </a:rPr>
              <a:t>Execution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3657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>
              <a:defRPr b="1"/>
            </a:pPr>
            <a:r>
              <a:rPr sz="2800" b="0">
                <a:solidFill>
                  <a:srgbClr val="16202E"/>
                </a:solidFill>
                <a:latin typeface="Open Sans"/>
              </a:rPr>
              <a:t>Control File: 20260624_Data_Estate_Cleanup_Audit.xlsx</a:t>
            </a:r>
          </a:p>
          <a:p>
            <a:pPr algn="l"/>
            <a:r>
              <a:rPr sz="2800" b="0">
                <a:solidFill>
                  <a:srgbClr val="16202E"/>
                </a:solidFill>
                <a:latin typeface="Open Sans"/>
              </a:rPr>
              <a:t>Targeting 1,300+ datasets with $10k+ monthly waste potential.</a:t>
            </a:r>
          </a:p>
          <a:p>
            <a:br/>
            <a:pPr algn="l"/>
            <a:r>
              <a:rPr sz="2800" b="0">
                <a:solidFill>
                  <a:srgbClr val="16202E"/>
                </a:solidFill>
                <a:latin typeface="Open Sans"/>
              </a:rPr>
              <a:t>Code &amp; Full Audit Control Repository:</a:t>
            </a:r>
          </a:p>
          <a:p>
            <a:pPr algn="l"/>
            <a:r>
              <a:rPr sz="2400" b="1">
                <a:solidFill>
                  <a:srgbClr val="1A73E8"/>
                </a:solidFill>
                <a:latin typeface="Open Sans"/>
              </a:rPr>
              <a:t>https://github.com/alandoddthg/bq-housekeeping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4000" b="1">
                <a:solidFill>
                  <a:srgbClr val="16202E"/>
                </a:solidFill>
                <a:latin typeface="Montserrat"/>
              </a:rPr>
              <a:t>Status Tracking &amp;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1800" b="0">
                <a:solidFill>
                  <a:srgbClr val="5A6675"/>
                </a:solidFill>
                <a:latin typeface="Open Sans"/>
              </a:rPr>
              <a:t>Every Scream Test run now produces a live, human-readable status view — no manual spreadsheet updates.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09728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2400" b="1">
                <a:solidFill>
                  <a:srgbClr val="1A73E8"/>
                </a:solidFill>
                <a:latin typeface="Montserrat"/>
              </a:rPr>
              <a:t>1. state.json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09728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1800" b="0">
                <a:solidFill>
                  <a:srgbClr val="16202E"/>
                </a:solidFill>
                <a:latin typeface="Open Sans"/>
              </a:rPr>
              <a:t>Machine record per dataset: backup location, Scream Test start time, current status (active / restored / deleted).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09728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2400" b="1">
                <a:solidFill>
                  <a:srgbClr val="1A73E8"/>
                </a:solidFill>
                <a:latin typeface="Montserrat"/>
              </a:rPr>
              <a:t>2. status_report.md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9728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1800" b="0">
                <a:solidFill>
                  <a:srgbClr val="16202E"/>
                </a:solidFill>
                <a:latin typeface="Open Sans"/>
              </a:rPr>
              <a:t>Auto-regenerated Markdown report on every workspace sync — per-dataset days elapsed and a Phase D readiness flag.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2400" b="1">
                <a:solidFill>
                  <a:srgbClr val="1A73E8"/>
                </a:solidFill>
                <a:latin typeface="Montserrat"/>
              </a:rPr>
              <a:t>3. Audit workbook stays 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109728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1800" b="0">
                <a:solidFill>
                  <a:srgbClr val="16202E"/>
                </a:solidFill>
                <a:latin typeface="Open Sans"/>
              </a:rPr>
              <a:t>Status is never pasted back into the Excel control file; the report is regenerated from live state each time (constitution §13.3).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