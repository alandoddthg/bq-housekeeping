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6000" b="1">
                <a:solidFill>
                  <a:srgbClr val="1A73E8"/>
                </a:solidFill>
                <a:latin typeface="Montserrat"/>
              </a:rPr>
              <a:t>BigQuery Housekeeping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800" b="0">
                <a:solidFill>
                  <a:srgbClr val="5A6675"/>
                </a:solidFill>
                <a:latin typeface="Open Sans"/>
              </a:rPr>
              <a:t>Data Estate Decommissioning &amp; Scream Test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400" b="1">
                <a:solidFill>
                  <a:srgbClr val="1A73E8"/>
                </a:solidFill>
                <a:latin typeface="Montserrat"/>
              </a:rPr>
              <a:t>EXECUTIVE REVIEW  ·  CLOUD FINOPS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How to recover (Emergency Protocol)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1A73E8"/>
                </a:solidFill>
                <a:latin typeface="Montserrat"/>
              </a:rPr>
              <a:t>1. Automated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Use `bq_restore_access.py` to pull metadata from `gs://bq-admin-backup/` and reapply in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1A73E8"/>
                </a:solidFill>
                <a:latin typeface="Montserrat"/>
              </a:rPr>
              <a:t>2. Metadata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Full access policies are versioned to GCS *before* any modification.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1A73E8"/>
                </a:solidFill>
                <a:latin typeface="Montserrat"/>
              </a:rPr>
              <a:t>3. Org-Level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1800" b="0">
                <a:solidFill>
                  <a:srgbClr val="16202E"/>
                </a:solidFill>
                <a:latin typeface="Open Sans"/>
              </a:rPr>
              <a:t>Org Admins retain management persistence via Org-level IAM; zero lockout risk.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Tranche Analysis: Stale &amp; Abandoned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Tranche</a:t>
                      </a:r>
                    </a:p>
                  </a:txBody>
                  <a:tcPr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Cost/Mo ($)</a:t>
                      </a:r>
                    </a:p>
                  </a:txBody>
                  <a:tcPr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Volume (GB)</a:t>
                      </a:r>
                    </a:p>
                  </a:txBody>
                  <a:tcPr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Datasets</a:t>
                      </a:r>
                    </a:p>
                  </a:txBody>
                  <a:tcPr>
                    <a:solidFill>
                      <a:srgbClr val="1620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Projects</a:t>
                      </a:r>
                    </a:p>
                  </a:txBody>
                  <a:tcPr>
                    <a:solidFill>
                      <a:srgbClr val="1620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T1: Abandoned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549.90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27,494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T2: Abandoned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8,913.59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445,681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T3: Small Abandoned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227.33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11,372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1,010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T4: Stale (180d)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103.68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5,182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T5: Active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581.07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29,053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Subtotal (Cleanup)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10,375.57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518,782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1,309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53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Active (Prod)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32,906.12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1,645,314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28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Access Profiles &amp; Cleanup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b="1" sz="2400"/>
            </a:pPr>
            <a:r>
              <a:t>Key Account Profiles Identified:</a:t>
            </a:r>
          </a:p>
          <a:p>
            <a:pPr>
              <a:spcBef>
                <a:spcPts val="1000"/>
              </a:spcBef>
              <a:defRPr sz="1800"/>
            </a:pPr>
            <a:r>
              <a:t>· Service Accounts: finops-scheduler, quota-collector, argus-investigator</a:t>
            </a:r>
          </a:p>
          <a:p>
            <a:pPr>
              <a:spcBef>
                <a:spcPts val="1000"/>
              </a:spcBef>
              <a:defRPr sz="1800"/>
            </a:pPr>
            <a:r>
              <a:t>· WIF Principals: GitHub Actions (thg-finops-prod)</a:t>
            </a:r>
          </a:p>
          <a:p>
            <a:pPr>
              <a:spcBef>
                <a:spcPts val="1000"/>
              </a:spcBef>
              <a:defRPr sz="1800"/>
            </a:pPr>
            <a:r>
              <a:t>· User Groups: Data &amp; AI (Looker), FinOps Team, Product Owners</a:t>
            </a:r>
          </a:p>
          <a:p>
            <a:pPr>
              <a:spcBef>
                <a:spcPts val="1000"/>
              </a:spcBef>
              <a:defRPr sz="1800"/>
            </a:pPr>
            <a:r>
              <a:t>· Orphaned: 1,300+ datasets have ZERO write activity in 180+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b="1" sz="2400">
                <a:solidFill>
                  <a:srgbClr val="1A73E8"/>
                </a:solidFill>
              </a:defRPr>
            </a:pPr>
            <a:r>
              <a:t>Recent Activity (Last 24h):</a:t>
            </a:r>
          </a:p>
          <a:p>
            <a:pPr>
              <a:spcBef>
                <a:spcPts val="1000"/>
              </a:spcBef>
              <a:defRPr sz="1800"/>
            </a:pPr>
            <a:r>
              <a:t>· thg-data-personify: Personify (Active)</a:t>
            </a:r>
          </a:p>
          <a:p>
            <a:pPr>
              <a:spcBef>
                <a:spcPts val="1000"/>
              </a:spcBef>
              <a:defRPr sz="1800"/>
            </a:pPr>
            <a:r>
              <a:t>· thg-ingenuity: analytics_376116958 (Active)</a:t>
            </a:r>
          </a:p>
          <a:p>
            <a:pPr>
              <a:spcBef>
                <a:spcPts val="1000"/>
              </a:spcBef>
              <a:defRPr sz="1800"/>
            </a:pPr>
            <a:r>
              <a:t>· thg-ml-dev: chatbot_conversations (Active)</a:t>
            </a:r>
          </a:p>
          <a:p>
            <a:pPr>
              <a:spcBef>
                <a:spcPts val="1000"/>
              </a:spcBef>
              <a:defRPr sz="1800"/>
            </a:pPr>
            <a:r>
              <a:t>· thg-cx-data: hermes_events (Active)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/>
            <a:r>
              <a:rPr sz="4000" b="1">
                <a:solidFill>
                  <a:srgbClr val="16202E"/>
                </a:solidFill>
                <a:latin typeface="Montserrat"/>
              </a:rPr>
              <a:t>Execution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</a:p>
          <a:p>
            <a:pPr algn="l">
              <a:defRPr b="1"/>
            </a:pPr>
            <a:r>
              <a:rPr sz="2800" b="0">
                <a:solidFill>
                  <a:srgbClr val="16202E"/>
                </a:solidFill>
                <a:latin typeface="Open Sans"/>
              </a:rPr>
              <a:t>Control File: 20260624_Data_Estate_Cleanup_Audit.xlsx</a:t>
            </a:r>
          </a:p>
          <a:p>
            <a:pPr algn="l"/>
            <a:r>
              <a:rPr sz="2800" b="0">
                <a:solidFill>
                  <a:srgbClr val="16202E"/>
                </a:solidFill>
                <a:latin typeface="Open Sans"/>
              </a:rPr>
              <a:t>Targeting 1,300+ datasets with $10k+ monthly waste potential.</a:t>
            </a:r>
          </a:p>
          <a:p>
            <a:br/>
            <a:pPr algn="l"/>
            <a:r>
              <a:rPr sz="2800" b="0">
                <a:solidFill>
                  <a:srgbClr val="16202E"/>
                </a:solidFill>
                <a:latin typeface="Open Sans"/>
              </a:rPr>
              <a:t>Code &amp; Full Audit Control Repository:</a:t>
            </a:r>
          </a:p>
          <a:p>
            <a:pPr algn="l"/>
            <a:r>
              <a:rPr sz="2400" b="1">
                <a:solidFill>
                  <a:srgbClr val="1A73E8"/>
                </a:solidFill>
                <a:latin typeface="Open Sans"/>
              </a:rPr>
              <a:t>https://github.com/alandoddthg/bq-housekeeping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