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286000"/>
            <a:ext cx="121916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b="1" sz="5400">
                <a:solidFill>
                  <a:srgbClr val="20FC8F"/>
                </a:solidFill>
              </a:defRPr>
            </a:pPr>
            <a:r>
              <a:t>BigQuery Data Estate Housekeeping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657600"/>
            <a:ext cx="121916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sz="2800">
                <a:solidFill>
                  <a:srgbClr val="FFFFFF"/>
                </a:solidFill>
              </a:defRPr>
            </a:pPr>
            <a:r>
              <a:t>Automated 'Scream Test' &amp; Defensible Deletion Framework</a:t>
            </a:r>
          </a:p>
          <a:p>
            <a:pPr algn="ctr">
              <a:defRPr sz="2000">
                <a:solidFill>
                  <a:srgbClr val="C8C8C8"/>
                </a:solidFill>
              </a:defRPr>
            </a:pPr>
            <a:r>
              <a:t>Alan Dodd | Cloud Infrastructure Lead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6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45720"/>
          </a:xfrm>
          <a:prstGeom prst="rect">
            <a:avLst/>
          </a:prstGeom>
          <a:solidFill>
            <a:srgbClr val="20F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Objective: Addressing 'Zombie Data'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2000"/>
              </a:spcBef>
              <a:defRPr b="1" sz="2800">
                <a:solidFill>
                  <a:srgbClr val="0A6B35"/>
                </a:solidFill>
              </a:defRPr>
            </a:pPr>
            <a:r>
              <a:t>Cost Optimization</a:t>
            </a:r>
          </a:p>
          <a:p>
            <a:pPr lvl="1">
              <a:defRPr sz="2200"/>
            </a:pPr>
            <a:r>
              <a:t>Removing redundant datasets to reduce logical storage overhead.</a:t>
            </a:r>
          </a:p>
          <a:p>
            <a:pPr>
              <a:spcBef>
                <a:spcPts val="2000"/>
              </a:spcBef>
              <a:defRPr b="1" sz="2800">
                <a:solidFill>
                  <a:srgbClr val="0A6B35"/>
                </a:solidFill>
              </a:defRPr>
            </a:pPr>
            <a:r>
              <a:t>Risk Mitigation</a:t>
            </a:r>
          </a:p>
          <a:p>
            <a:pPr lvl="1">
              <a:defRPr sz="2200"/>
            </a:pPr>
            <a:r>
              <a:t>Reducing data footprint to align with GDPR and THG retention policies.</a:t>
            </a:r>
          </a:p>
          <a:p>
            <a:pPr>
              <a:spcBef>
                <a:spcPts val="2000"/>
              </a:spcBef>
              <a:defRPr b="1" sz="2800">
                <a:solidFill>
                  <a:srgbClr val="0A6B35"/>
                </a:solidFill>
              </a:defRPr>
            </a:pPr>
            <a:r>
              <a:t>Operational Hygiene</a:t>
            </a:r>
          </a:p>
          <a:p>
            <a:pPr lvl="1">
              <a:defRPr sz="2200"/>
            </a:pPr>
            <a:r>
              <a:t>Cleaning up 'Abandoned Prod' and 'Orphaned Test' datasets across both Orgs.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6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45720"/>
          </a:xfrm>
          <a:prstGeom prst="rect">
            <a:avLst/>
          </a:prstGeom>
          <a:solidFill>
            <a:srgbClr val="20F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The 'Scream Test'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2743200" cy="3657600"/>
          </a:xfrm>
          <a:prstGeom prst="rect">
            <a:avLst/>
          </a:prstGeom>
          <a:solidFill>
            <a:srgbClr val="F5F5F5"/>
          </a:solidFill>
          <a:ln>
            <a:solidFill>
              <a:srgbClr val="20F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b="1" sz="2400">
                <a:solidFill>
                  <a:srgbClr val="161923"/>
                </a:solidFill>
              </a:defRPr>
            </a:pPr>
            <a:r>
              <a:t>1. Audit &amp; Identify</a:t>
            </a:r>
          </a:p>
          <a:p>
            <a:br/>
            <a:pPr>
              <a:defRPr sz="1800">
                <a:solidFill>
                  <a:srgbClr val="102632"/>
                </a:solidFill>
              </a:defRPr>
            </a:pPr>
            <a:r>
              <a:t>Multi-layer analysis: Storage modified time vs. Query access history (180d).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91840" y="1371600"/>
            <a:ext cx="2743200" cy="3657600"/>
          </a:xfrm>
          <a:prstGeom prst="rect">
            <a:avLst/>
          </a:prstGeom>
          <a:solidFill>
            <a:srgbClr val="F5F5F5"/>
          </a:solidFill>
          <a:ln>
            <a:solidFill>
              <a:srgbClr val="20F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b="1" sz="2400">
                <a:solidFill>
                  <a:srgbClr val="161923"/>
                </a:solidFill>
              </a:defRPr>
            </a:pPr>
            <a:r>
              <a:t>2. Backup &amp; Label</a:t>
            </a:r>
          </a:p>
          <a:p>
            <a:br/>
            <a:pPr>
              <a:defRPr sz="1800">
                <a:solidFill>
                  <a:srgbClr val="102632"/>
                </a:solidFill>
              </a:defRPr>
            </a:pPr>
            <a:r>
              <a:t>Automated capture of dataset access policies to GCS prior to any modification.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126480" y="1371600"/>
            <a:ext cx="2743200" cy="3657600"/>
          </a:xfrm>
          <a:prstGeom prst="rect">
            <a:avLst/>
          </a:prstGeom>
          <a:solidFill>
            <a:srgbClr val="F5F5F5"/>
          </a:solidFill>
          <a:ln>
            <a:solidFill>
              <a:srgbClr val="20F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b="1" sz="2400">
                <a:solidFill>
                  <a:srgbClr val="161923"/>
                </a:solidFill>
              </a:defRPr>
            </a:pPr>
            <a:r>
              <a:t>3. Restrict (Scream Test)</a:t>
            </a:r>
          </a:p>
          <a:p>
            <a:br/>
            <a:pPr>
              <a:defRPr sz="1800">
                <a:solidFill>
                  <a:srgbClr val="102632"/>
                </a:solidFill>
              </a:defRPr>
            </a:pPr>
            <a:r>
              <a:t>Removal of all non-OWNER access. Monitoring for 7-14 days for user impact.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961120" y="1371600"/>
            <a:ext cx="2743200" cy="3657600"/>
          </a:xfrm>
          <a:prstGeom prst="rect">
            <a:avLst/>
          </a:prstGeom>
          <a:solidFill>
            <a:srgbClr val="F5F5F5"/>
          </a:solidFill>
          <a:ln>
            <a:solidFill>
              <a:srgbClr val="20FC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  <a:p>
            <a:pPr>
              <a:defRPr b="1" sz="2400">
                <a:solidFill>
                  <a:srgbClr val="161923"/>
                </a:solidFill>
              </a:defRPr>
            </a:pPr>
            <a:r>
              <a:t>4. Decommission</a:t>
            </a:r>
          </a:p>
          <a:p>
            <a:br/>
            <a:pPr>
              <a:defRPr sz="1800">
                <a:solidFill>
                  <a:srgbClr val="102632"/>
                </a:solidFill>
              </a:defRPr>
            </a:pPr>
            <a:r>
              <a:t>Permanent deletion of datasets that pass the monitoring period without 'screams'.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6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45720"/>
          </a:xfrm>
          <a:prstGeom prst="rect">
            <a:avLst/>
          </a:prstGeom>
          <a:solidFill>
            <a:srgbClr val="20F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Safety &amp;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2895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>
              <a:spcAft>
                <a:spcPts val="1500"/>
              </a:spcAft>
              <a:defRPr sz="2400">
                <a:solidFill>
                  <a:srgbClr val="102632"/>
                </a:solidFill>
              </a:defRPr>
            </a:pPr>
            <a:r>
              <a:t>Org Admin Persistence: Cloud Infrastructure team retains access via Org-level IAM.</a:t>
            </a:r>
          </a:p>
          <a:p>
            <a:pPr>
              <a:spcAft>
                <a:spcPts val="1500"/>
              </a:spcAft>
              <a:defRPr sz="2400">
                <a:solidFill>
                  <a:srgbClr val="102632"/>
                </a:solidFill>
              </a:defRPr>
            </a:pPr>
            <a:r>
              <a:t>Automated Rollback: One-command restoration of full access policies from GCS backups.</a:t>
            </a:r>
          </a:p>
          <a:p>
            <a:pPr>
              <a:spcAft>
                <a:spcPts val="1500"/>
              </a:spcAft>
              <a:defRPr sz="2400">
                <a:solidFill>
                  <a:srgbClr val="102632"/>
                </a:solidFill>
              </a:defRPr>
            </a:pPr>
            <a:r>
              <a:t>Time Travel Window: 7-day post-deletion window for emergency table recovery.</a:t>
            </a:r>
          </a:p>
          <a:p>
            <a:pPr>
              <a:spcAft>
                <a:spcPts val="1500"/>
              </a:spcAft>
              <a:defRPr sz="2400">
                <a:solidFill>
                  <a:srgbClr val="102632"/>
                </a:solidFill>
              </a:defRPr>
            </a:pPr>
            <a:r>
              <a:t>Dry-Run Mode: Mandatory simulation phase for every tranche before execution.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619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0"/>
            <a:ext cx="12191695" cy="45720"/>
          </a:xfrm>
          <a:prstGeom prst="rect">
            <a:avLst/>
          </a:prstGeom>
          <a:solidFill>
            <a:srgbClr val="20FC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Current Status: Tranche Overview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828800"/>
          <a:ext cx="10058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2800"/>
                <a:gridCol w="3352800"/>
                <a:gridCol w="3352800"/>
              </a:tblGrid>
              <a:tr h="73152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20FC8F"/>
                          </a:solidFill>
                        </a:defRPr>
                      </a:pPr>
                      <a:r>
                        <a:t>Tranche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20FC8F"/>
                          </a:solidFill>
                        </a:defRPr>
                      </a:pPr>
                      <a:r>
                        <a:t>Target Profile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20FC8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6192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Tranche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Abandoned Test/Temp (&gt;1yr)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COMPLETE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Tranche 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Refined Test Targets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IN PROGRESS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Tranche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Large Prod (&gt;100GB, Stale)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CONFIRMED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Tranche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Small Prod Stale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2000"/>
                      </a:pPr>
                      <a:r>
                        <a:t>REVIEW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