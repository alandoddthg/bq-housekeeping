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6000" b="1">
                <a:solidFill>
                  <a:srgbClr val="1A73E8"/>
                </a:solidFill>
                <a:latin typeface="Montserrat"/>
              </a:rPr>
              <a:t>BigQuery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800" b="0">
                <a:solidFill>
                  <a:srgbClr val="5A6675"/>
                </a:solidFill>
                <a:latin typeface="Open Sans"/>
              </a:rPr>
              <a:t>Data Estate Decommissioning &amp; Scream Test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400" b="1">
                <a:solidFill>
                  <a:srgbClr val="1A73E8"/>
                </a:solidFill>
                <a:latin typeface="Montserrat"/>
              </a:rPr>
              <a:t>EXECUTIVE REVIEW  ·  CLOUD FINOPS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How to recover (Emergency Protocol)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Automated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Use `bq_restore_access.py` to pull metadata from `gs://bq-admin-backup/` and reapply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Metadata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Full access policies are versioned to GCS *before* any modification.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Org-Level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Org Admins retain management persistence via Org-level IAM; zero lockout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Tranche Analysis: Stale &amp; Abandoned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715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Tranche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Cost/Mo ($)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 (GB)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Datasets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16202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T1: Abandoned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549.90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27,494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T2: Abandoned 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8,913.59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445,681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T3: Small Abandoned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11,372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T4: Stale (180d)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5,182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T5: Active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581.07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29,053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Subtotal (Cleanup)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10,375.57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518,782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Active (Prod)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32,906.12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1,645,314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Access Profiles &amp; Cleanup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Key Account Profiles Identified:</a:t>
            </a:r>
          </a:p>
          <a:p>
            <a:pPr>
              <a:spcBef>
                <a:spcPts val="1000"/>
              </a:spcBef>
              <a:defRPr sz="1800"/>
            </a:pPr>
            <a:r>
              <a:t>· Service Accounts: finops-scheduler, quota-collector, argus-investigator</a:t>
            </a:r>
          </a:p>
          <a:p>
            <a:pPr>
              <a:spcBef>
                <a:spcPts val="1000"/>
              </a:spcBef>
              <a:defRPr sz="1800"/>
            </a:pPr>
            <a:r>
              <a:t>· WIF Principals: GitHub Actions (thg-finops-prod)</a:t>
            </a:r>
          </a:p>
          <a:p>
            <a:pPr>
              <a:spcBef>
                <a:spcPts val="1000"/>
              </a:spcBef>
              <a:defRPr sz="1800"/>
            </a:pPr>
            <a:r>
              <a:t>· User Groups: Data &amp; AI (Looker), FinOps Team, Product Owners</a:t>
            </a:r>
          </a:p>
          <a:p>
            <a:pPr>
              <a:spcBef>
                <a:spcPts val="1000"/>
              </a:spcBef>
              <a:defRPr sz="1800"/>
            </a:pPr>
            <a:r>
              <a:t>· Orphaned: 1,300+ datasets have ZERO write activity in 180+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>
                <a:solidFill>
                  <a:srgbClr val="1A73E8"/>
                </a:solidFill>
              </a:defRPr>
            </a:pPr>
            <a:r>
              <a:t>Recent Activity (Last 24h):</a:t>
            </a:r>
          </a:p>
          <a:p>
            <a:pPr>
              <a:spcBef>
                <a:spcPts val="1000"/>
              </a:spcBef>
              <a:defRPr sz="1800"/>
            </a:pPr>
            <a:r>
              <a:t>· thg-data-personify: Personify (Active)</a:t>
            </a:r>
          </a:p>
          <a:p>
            <a:pPr>
              <a:spcBef>
                <a:spcPts val="1000"/>
              </a:spcBef>
              <a:defRPr sz="1800"/>
            </a:pPr>
            <a:r>
              <a:t>· thg-ingenuity: analytics_376116958 (Active)</a:t>
            </a:r>
          </a:p>
          <a:p>
            <a:pPr>
              <a:spcBef>
                <a:spcPts val="1000"/>
              </a:spcBef>
              <a:defRPr sz="1800"/>
            </a:pPr>
            <a:r>
              <a:t>· thg-ml-dev: chatbot_conversations (Active)</a:t>
            </a:r>
          </a:p>
          <a:p>
            <a:pPr>
              <a:spcBef>
                <a:spcPts val="1000"/>
              </a:spcBef>
              <a:defRPr sz="1800"/>
            </a:pPr>
            <a:r>
              <a:t>· thg-cx-data: hermes_events (Active)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Execution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>
              <a:defRPr b="1"/>
            </a:pPr>
            <a:r>
              <a:rPr sz="2800" b="0">
                <a:solidFill>
                  <a:srgbClr val="16202E"/>
                </a:solidFill>
                <a:latin typeface="Open Sans"/>
              </a:rPr>
              <a:t>Control File: 20260624_Data_Estate_Cleanup_Audit.xlsx</a:t>
            </a:r>
          </a:p>
          <a:p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Targeting 1,300+ datasets with $10k+ monthly waste potential.</a:t>
            </a:r>
          </a:p>
          <a:p>
            <a:br/>
            <a:pPr algn="l"/>
            <a:r>
              <a:rPr sz="2800" b="0">
                <a:solidFill>
                  <a:srgbClr val="16202E"/>
                </a:solidFill>
                <a:latin typeface="Open Sans"/>
              </a:rPr>
              <a:t>Code &amp; Full Audit Control Repository:</a:t>
            </a:r>
          </a:p>
          <a:p>
            <a:pPr algn="l"/>
            <a:r>
              <a:rPr sz="2400" b="1">
                <a:solidFill>
                  <a:srgbClr val="1A73E8"/>
                </a:solidFill>
                <a:latin typeface="Open Sans"/>
              </a:rPr>
              <a:t>https://github.com/alandoddthg/bq-housekeeping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4000" b="1">
                <a:solidFill>
                  <a:srgbClr val="16202E"/>
                </a:solidFill>
                <a:latin typeface="Montserrat"/>
              </a:rPr>
              <a:t>Status Tracking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5A6675"/>
                </a:solidFill>
                <a:latin typeface="Open Sans"/>
              </a:rPr>
              <a:t>Every Scream Test run now produces a live, human-readable status view — no manual spreadsheet updates.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1. state.json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Machine record per dataset: backup location, Scream Test start time, current status (active / restored / deleted).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2. status_report.md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Auto-regenerated Markdown report on every workspace sync — per-dataset days elapsed and a Phase D readiness flag.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2400" b="1">
                <a:solidFill>
                  <a:srgbClr val="1A73E8"/>
                </a:solidFill>
                <a:latin typeface="Montserrat"/>
              </a:rPr>
              <a:t>3. Audit workbook stays 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/>
            <a:r>
              <a:rPr sz="1800" b="0">
                <a:solidFill>
                  <a:srgbClr val="16202E"/>
                </a:solidFill>
                <a:latin typeface="Open Sans"/>
              </a:rPr>
              <a:t>Status is never pasted back into the Excel control file; the report is regenerated from live state each time (constitution §13.3).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